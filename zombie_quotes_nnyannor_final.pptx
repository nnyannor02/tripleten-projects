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p:regular r:id="rId13"/>
      <p:bold r:id="rId14"/>
      <p:italic r:id="rId15"/>
      <p:boldItalic r:id="rId16"/>
    </p:embeddedFont>
    <p:embeddedFont>
      <p:font typeface="Inter ExtraBold"/>
      <p:bold r:id="rId17"/>
      <p:boldItalic r:id="rId18"/>
    </p:embeddedFont>
    <p:embeddedFont>
      <p:font typeface="Inter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 uri="GoogleSlidesCustomDataVersion2">
      <go:slidesCustomData xmlns:go="http://customooxmlschemas.google.com/" r:id="rId23" roundtripDataSignature="AMtx7mjw1x6X65aOcgSb90GypC6HVp3S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
        <p:guide pos="144" orient="horz"/>
        <p:guide pos="5616"/>
        <p:guide pos="3096" orient="horz"/>
        <p:guide pos="40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slide" Target="slides/slide6.xml"/><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font" Target="fonts/Inter-regular.fntdata"/><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InterExtraBold-bold.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efc347d3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 name="Google Shape;31;g3efc347d3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 sz="1100" u="none" cap="none" strike="noStrike">
                <a:solidFill>
                  <a:srgbClr val="000000"/>
                </a:solidFill>
                <a:latin typeface="Arial"/>
                <a:ea typeface="Arial"/>
                <a:cs typeface="Arial"/>
                <a:sym typeface="Arial"/>
              </a:rPr>
              <a:t>Hi everyone, my name is Nana-Serwaah, and I will be kicking things off today. My section focuses on something we are calling zombie quotes,  and by the end of my slides, you will understand exactly why that name fits.</a:t>
            </a:r>
            <a:endParaRPr b="0"/>
          </a:p>
          <a:p>
            <a:pPr indent="0" lvl="0" marL="158750" rtl="0" algn="l">
              <a:lnSpc>
                <a:spcPct val="100000"/>
              </a:lnSpc>
              <a:spcBef>
                <a:spcPts val="0"/>
              </a:spcBef>
              <a:spcAft>
                <a:spcPts val="0"/>
              </a:spcAft>
              <a:buSzPts val="1100"/>
              <a:buNone/>
            </a:pPr>
            <a:r>
              <a:t/>
            </a:r>
            <a:endParaRPr/>
          </a:p>
        </p:txBody>
      </p:sp>
      <p:sp>
        <p:nvSpPr>
          <p:cNvPr id="39" name="Google Shape;3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Out of 9,817 total records in this dataset, 6,578 reached complete quote. That sounds like a win. But 1,086 of those completions never resolved into anything real. No price. No rejection. They passed every stage and just stopped existing as outcomes. At $9,541.57 average premium, those 1,086 records represent $10,362,141 in unresolved revenue. That is 44% of our realized total addressable market sitting in a data dead zone.</a:t>
            </a:r>
            <a:endParaRPr/>
          </a:p>
        </p:txBody>
      </p:sp>
      <p:sp>
        <p:nvSpPr>
          <p:cNvPr id="47" name="Google Shape;47;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 sz="1100" u="none" cap="none" strike="noStrike">
                <a:solidFill>
                  <a:srgbClr val="000000"/>
                </a:solidFill>
                <a:latin typeface="Arial"/>
                <a:ea typeface="Arial"/>
                <a:cs typeface="Arial"/>
                <a:sym typeface="Arial"/>
              </a:rPr>
              <a:t>Keep this slide fast. Say the three conditions clearly and move on. Do not over-explain — Timothy's section builds directly on this definition. Your job here is to define and put the number on the board, nothing more.</a:t>
            </a:r>
            <a:br>
              <a:rPr lang="en"/>
            </a:br>
            <a:endParaRPr/>
          </a:p>
        </p:txBody>
      </p:sp>
      <p:sp>
        <p:nvSpPr>
          <p:cNvPr id="55" name="Google Shape;55;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Do not read the percentages like a list. Say it like you discovered something. Pause before the last two sentences. Then say them slowly: These aren't random gaps. The same fields drop out on the same records. That's not messy data -- that's a broken pipeline. Let that land before you move.</a:t>
            </a:r>
            <a:endParaRPr/>
          </a:p>
        </p:txBody>
      </p:sp>
      <p:sp>
        <p:nvSpPr>
          <p:cNvPr id="62" name="Google Shape;62;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Walk through the first three bullets at a steady pace. Then slow down completely for the last line. Say it clearly: For every dollar that enters this pipeline, Supernova captures 36 cents. Then stop. Do not keep talking. Let it sit for two full seconds. That is the number the audience will remember. Then move to the last slide.</a:t>
            </a:r>
            <a:endParaRPr/>
          </a:p>
        </p:txBody>
      </p:sp>
      <p:sp>
        <p:nvSpPr>
          <p:cNvPr id="71" name="Google Shape;71;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Say that one line and stop. Do not summarize yourself. Do not say thank you and keep going. Just say the line and let Timothy start. Your last slide already does the summary, do not repeat it.</a:t>
            </a:r>
            <a:endParaRPr/>
          </a:p>
        </p:txBody>
      </p:sp>
      <p:sp>
        <p:nvSpPr>
          <p:cNvPr id="78" name="Google Shape;78;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 name="Shape 18"/>
        <p:cNvGrpSpPr/>
        <p:nvPr/>
      </p:nvGrpSpPr>
      <p:grpSpPr>
        <a:xfrm>
          <a:off x="0" y="0"/>
          <a:ext cx="0" cy="0"/>
          <a:chOff x="0" y="0"/>
          <a:chExt cx="0" cy="0"/>
        </a:xfrm>
      </p:grpSpPr>
      <p:sp>
        <p:nvSpPr>
          <p:cNvPr id="19" name="Google Shape;1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 name="Shape 20"/>
        <p:cNvGrpSpPr/>
        <p:nvPr/>
      </p:nvGrpSpPr>
      <p:grpSpPr>
        <a:xfrm>
          <a:off x="0" y="0"/>
          <a:ext cx="0" cy="0"/>
          <a:chOff x="0" y="0"/>
          <a:chExt cx="0" cy="0"/>
        </a:xfrm>
      </p:grpSpPr>
      <p:sp>
        <p:nvSpPr>
          <p:cNvPr id="21" name="Google Shape;2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 name="Shape 22"/>
        <p:cNvGrpSpPr/>
        <p:nvPr/>
      </p:nvGrpSpPr>
      <p:grpSpPr>
        <a:xfrm>
          <a:off x="0" y="0"/>
          <a:ext cx="0" cy="0"/>
          <a:chOff x="0" y="0"/>
          <a:chExt cx="0" cy="0"/>
        </a:xfrm>
      </p:grpSpPr>
      <p:sp>
        <p:nvSpPr>
          <p:cNvPr id="23" name="Google Shape;2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 name="Shape 26"/>
        <p:cNvGrpSpPr/>
        <p:nvPr/>
      </p:nvGrpSpPr>
      <p:grpSpPr>
        <a:xfrm>
          <a:off x="0" y="0"/>
          <a:ext cx="0" cy="0"/>
          <a:chOff x="0" y="0"/>
          <a:chExt cx="0" cy="0"/>
        </a:xfrm>
      </p:grpSpPr>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8"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32" name="Shape 32"/>
        <p:cNvGrpSpPr/>
        <p:nvPr/>
      </p:nvGrpSpPr>
      <p:grpSpPr>
        <a:xfrm>
          <a:off x="0" y="0"/>
          <a:ext cx="0" cy="0"/>
          <a:chOff x="0" y="0"/>
          <a:chExt cx="0" cy="0"/>
        </a:xfrm>
      </p:grpSpPr>
      <p:pic>
        <p:nvPicPr>
          <p:cNvPr id="33" name="Google Shape;33;g3efc347d307_0_0"/>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34" name="Google Shape;34;g3efc347d307_0_0"/>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Speaker</a:t>
            </a:r>
            <a:endParaRPr b="0" i="0" sz="4000" u="none" cap="none" strike="noStrike">
              <a:solidFill>
                <a:srgbClr val="1A1A1A"/>
              </a:solidFill>
              <a:latin typeface="Inter ExtraBold"/>
              <a:ea typeface="Inter ExtraBold"/>
              <a:cs typeface="Inter ExtraBold"/>
              <a:sym typeface="Inter ExtraBold"/>
            </a:endParaRPr>
          </a:p>
        </p:txBody>
      </p:sp>
      <p:sp>
        <p:nvSpPr>
          <p:cNvPr id="35" name="Google Shape;35;g3efc347d307_0_0"/>
          <p:cNvSpPr txBox="1"/>
          <p:nvPr>
            <p:ph idx="2" type="ctrTitle"/>
          </p:nvPr>
        </p:nvSpPr>
        <p:spPr>
          <a:xfrm>
            <a:off x="188775" y="4206900"/>
            <a:ext cx="48996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lang="en" sz="3000">
                <a:solidFill>
                  <a:srgbClr val="1A1A1A"/>
                </a:solidFill>
                <a:latin typeface="Inter ExtraBold"/>
                <a:ea typeface="Inter ExtraBold"/>
                <a:cs typeface="Inter ExtraBold"/>
                <a:sym typeface="Inter ExtraBold"/>
              </a:rPr>
              <a:t>Nana-Serwaah Nyannor</a:t>
            </a:r>
            <a:br>
              <a:rPr b="0" i="0" lang="en" sz="3200" u="none" cap="none" strike="noStrike">
                <a:solidFill>
                  <a:srgbClr val="1A1A1A"/>
                </a:solidFill>
                <a:latin typeface="Inter ExtraBold"/>
                <a:ea typeface="Inter ExtraBold"/>
                <a:cs typeface="Inter ExtraBold"/>
                <a:sym typeface="Inter ExtraBold"/>
              </a:rPr>
            </a:br>
            <a:r>
              <a:rPr lang="en">
                <a:solidFill>
                  <a:srgbClr val="1A1A1A"/>
                </a:solidFill>
                <a:latin typeface="Inter"/>
                <a:ea typeface="Inter"/>
                <a:cs typeface="Inter"/>
                <a:sym typeface="Inter"/>
              </a:rPr>
              <a:t>BIA Analyst</a:t>
            </a:r>
            <a:endParaRPr b="0" i="0" sz="1800" u="none" cap="none" strike="noStrike">
              <a:solidFill>
                <a:srgbClr val="1A1A1A"/>
              </a:solidFill>
              <a:latin typeface="Inter ExtraBold"/>
              <a:ea typeface="Inter ExtraBold"/>
              <a:cs typeface="Inter ExtraBold"/>
              <a:sym typeface="Inter ExtraBold"/>
            </a:endParaRPr>
          </a:p>
        </p:txBody>
      </p:sp>
      <p:pic>
        <p:nvPicPr>
          <p:cNvPr id="36" name="Google Shape;36;g3efc347d307_0_0" title="IMG_2967.PNG"/>
          <p:cNvPicPr preferRelativeResize="0"/>
          <p:nvPr/>
        </p:nvPicPr>
        <p:blipFill rotWithShape="1">
          <a:blip r:embed="rId4">
            <a:alphaModFix/>
          </a:blip>
          <a:srcRect b="16730" l="0" r="0" t="16723"/>
          <a:stretch/>
        </p:blipFill>
        <p:spPr>
          <a:xfrm>
            <a:off x="5369700" y="1369200"/>
            <a:ext cx="3545700" cy="3545700"/>
          </a:xfrm>
          <a:prstGeom prst="roundRect">
            <a:avLst>
              <a:gd fmla="val 4772"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40" name="Shape 40"/>
        <p:cNvGrpSpPr/>
        <p:nvPr/>
      </p:nvGrpSpPr>
      <p:grpSpPr>
        <a:xfrm>
          <a:off x="0" y="0"/>
          <a:ext cx="0" cy="0"/>
          <a:chOff x="0" y="0"/>
          <a:chExt cx="0" cy="0"/>
        </a:xfrm>
      </p:grpSpPr>
      <p:sp>
        <p:nvSpPr>
          <p:cNvPr id="41" name="Google Shape;41;p1"/>
          <p:cNvSpPr txBox="1"/>
          <p:nvPr>
            <p:ph type="ctrTitle"/>
          </p:nvPr>
        </p:nvSpPr>
        <p:spPr>
          <a:xfrm>
            <a:off x="64008" y="638300"/>
            <a:ext cx="8520600" cy="1913329"/>
          </a:xfrm>
          <a:prstGeom prst="rect">
            <a:avLst/>
          </a:prstGeom>
          <a:noFill/>
          <a:ln>
            <a:noFill/>
          </a:ln>
        </p:spPr>
        <p:txBody>
          <a:bodyPr anchorCtr="0" anchor="t" bIns="91425" lIns="91425" spcFirstLastPara="1" rIns="91425" wrap="square" tIns="0">
            <a:spAutoFit/>
          </a:bodyPr>
          <a:lstStyle/>
          <a:p>
            <a:pPr indent="0" lvl="0" marL="0" marR="0" rtl="0" algn="l">
              <a:lnSpc>
                <a:spcPct val="90000"/>
              </a:lnSpc>
              <a:spcBef>
                <a:spcPts val="0"/>
              </a:spcBef>
              <a:spcAft>
                <a:spcPts val="0"/>
              </a:spcAft>
              <a:buClr>
                <a:srgbClr val="000000"/>
              </a:buClr>
              <a:buSzPts val="6000"/>
              <a:buFont typeface="Arial"/>
              <a:buNone/>
            </a:pPr>
            <a:r>
              <a:rPr b="0" i="0" lang="en" sz="5000" u="none" cap="none" strike="noStrike">
                <a:solidFill>
                  <a:srgbClr val="1A1A1A"/>
                </a:solidFill>
                <a:latin typeface="Inter ExtraBold"/>
                <a:ea typeface="Inter ExtraBold"/>
                <a:cs typeface="Inter ExtraBold"/>
                <a:sym typeface="Inter ExtraBold"/>
              </a:rPr>
              <a:t>Zombie / Dead Quotes: Overall Impact</a:t>
            </a:r>
            <a:endParaRPr b="0" i="0" sz="5000" u="none" cap="none" strike="noStrike">
              <a:solidFill>
                <a:srgbClr val="1A1A1A"/>
              </a:solidFill>
              <a:latin typeface="Inter ExtraBold"/>
              <a:ea typeface="Inter ExtraBold"/>
              <a:cs typeface="Inter ExtraBold"/>
              <a:sym typeface="Inter ExtraBold"/>
            </a:endParaRPr>
          </a:p>
          <a:p>
            <a:pPr indent="0" lvl="0" marL="0" marR="0" rtl="0" algn="l">
              <a:lnSpc>
                <a:spcPct val="100000"/>
              </a:lnSpc>
              <a:spcBef>
                <a:spcPts val="1000"/>
              </a:spcBef>
              <a:spcAft>
                <a:spcPts val="0"/>
              </a:spcAft>
              <a:buClr>
                <a:schemeClr val="dk1"/>
              </a:buClr>
              <a:buSzPts val="1100"/>
              <a:buFont typeface="Arial"/>
              <a:buNone/>
            </a:pPr>
            <a:r>
              <a:rPr b="0" i="0" lang="en" sz="2000" u="none" cap="none" strike="noStrike">
                <a:solidFill>
                  <a:srgbClr val="1A1A1A"/>
                </a:solidFill>
                <a:latin typeface="Inter"/>
                <a:ea typeface="Inter"/>
                <a:cs typeface="Inter"/>
                <a:sym typeface="Inter"/>
              </a:rPr>
              <a:t>What Happens When Quotes Complete But Never Resolve</a:t>
            </a:r>
            <a:endParaRPr b="0" i="0" sz="6000" u="none" cap="none" strike="noStrike">
              <a:solidFill>
                <a:srgbClr val="1A1A1A"/>
              </a:solidFill>
              <a:latin typeface="Inter ExtraBold"/>
              <a:ea typeface="Inter ExtraBold"/>
              <a:cs typeface="Inter ExtraBold"/>
              <a:sym typeface="Inter ExtraBold"/>
            </a:endParaRPr>
          </a:p>
        </p:txBody>
      </p:sp>
      <p:pic>
        <p:nvPicPr>
          <p:cNvPr id="42" name="Google Shape;42;p1"/>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43" name="Google Shape;43;p1"/>
          <p:cNvSpPr txBox="1"/>
          <p:nvPr>
            <p:ph idx="1" type="subTitle"/>
          </p:nvPr>
        </p:nvSpPr>
        <p:spPr>
          <a:xfrm>
            <a:off x="152400" y="4600950"/>
            <a:ext cx="8686800" cy="3693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2A2A2A"/>
                </a:solidFill>
                <a:latin typeface="Inter Medium"/>
                <a:ea typeface="Inter Medium"/>
                <a:cs typeface="Inter Medium"/>
                <a:sym typeface="Inter Medium"/>
              </a:rPr>
              <a:t>Nana-Serwaah Nyannor | TripleTen BIA Cohort 14 | Supernova MGU | June 2026</a:t>
            </a:r>
            <a:endParaRPr b="0" i="0" sz="1200" u="none" cap="none" strike="noStrike">
              <a:solidFill>
                <a:srgbClr val="2A2A2A"/>
              </a:solidFill>
              <a:latin typeface="Inter Medium"/>
              <a:ea typeface="Inter Medium"/>
              <a:cs typeface="Inter Medium"/>
              <a:sym typeface="Inter Medium"/>
            </a:endParaRPr>
          </a:p>
        </p:txBody>
      </p:sp>
      <p:pic>
        <p:nvPicPr>
          <p:cNvPr id="44" name="Google Shape;44;p1"/>
          <p:cNvPicPr preferRelativeResize="0"/>
          <p:nvPr/>
        </p:nvPicPr>
        <p:blipFill rotWithShape="1">
          <a:blip r:embed="rId4">
            <a:alphaModFix/>
          </a:blip>
          <a:srcRect b="0" l="0" r="0" t="0"/>
          <a:stretch/>
        </p:blipFill>
        <p:spPr>
          <a:xfrm>
            <a:off x="6467637" y="2815560"/>
            <a:ext cx="2523963" cy="23288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48" name="Shape 48"/>
        <p:cNvGrpSpPr/>
        <p:nvPr/>
      </p:nvGrpSpPr>
      <p:grpSpPr>
        <a:xfrm>
          <a:off x="0" y="0"/>
          <a:ext cx="0" cy="0"/>
          <a:chOff x="0" y="0"/>
          <a:chExt cx="0" cy="0"/>
        </a:xfrm>
      </p:grpSpPr>
      <p:pic>
        <p:nvPicPr>
          <p:cNvPr id="49" name="Google Shape;49;p2"/>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50" name="Google Shape;50;p2"/>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The Problem</a:t>
            </a:r>
            <a:endParaRPr b="0" i="0" sz="4000" u="none" cap="none" strike="noStrike">
              <a:solidFill>
                <a:srgbClr val="1A1A1A"/>
              </a:solidFill>
              <a:latin typeface="Inter ExtraBold"/>
              <a:ea typeface="Inter ExtraBold"/>
              <a:cs typeface="Inter ExtraBold"/>
              <a:sym typeface="Inter ExtraBold"/>
            </a:endParaRPr>
          </a:p>
        </p:txBody>
      </p:sp>
      <p:sp>
        <p:nvSpPr>
          <p:cNvPr id="51" name="Google Shape;51;p2"/>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1A1A"/>
                </a:solidFill>
                <a:latin typeface="Inter"/>
                <a:ea typeface="Inter"/>
                <a:cs typeface="Inter"/>
                <a:sym typeface="Inter"/>
              </a:rPr>
              <a:t>6,578 quotes reached “complete quote” in our system.</a:t>
            </a:r>
            <a:br>
              <a:rPr b="0" i="0" lang="en" sz="2000" u="none" cap="none" strike="noStrike">
                <a:solidFill>
                  <a:srgbClr val="1A1A1A"/>
                </a:solidFill>
                <a:latin typeface="Inter"/>
                <a:ea typeface="Inter"/>
                <a:cs typeface="Inter"/>
                <a:sym typeface="Inter"/>
              </a:rPr>
            </a:br>
            <a:br>
              <a:rPr b="0" i="0" lang="en" sz="2000" u="none" cap="none" strike="noStrike">
                <a:solidFill>
                  <a:srgbClr val="1A1A1A"/>
                </a:solidFill>
                <a:latin typeface="Inter"/>
                <a:ea typeface="Inter"/>
                <a:cs typeface="Inter"/>
                <a:sym typeface="Inter"/>
              </a:rPr>
            </a:br>
            <a:r>
              <a:rPr b="0" i="0" lang="en" sz="2000" u="none" cap="none" strike="noStrike">
                <a:solidFill>
                  <a:srgbClr val="1A1A1A"/>
                </a:solidFill>
                <a:latin typeface="Inter"/>
                <a:ea typeface="Inter"/>
                <a:cs typeface="Inter"/>
                <a:sym typeface="Inter"/>
              </a:rPr>
              <a:t>1,086 of them never received a price.</a:t>
            </a:r>
            <a:br>
              <a:rPr b="0" i="0" lang="en" sz="2000" u="none" cap="none" strike="noStrike">
                <a:solidFill>
                  <a:srgbClr val="1A1A1A"/>
                </a:solidFill>
                <a:latin typeface="Inter"/>
                <a:ea typeface="Inter"/>
                <a:cs typeface="Inter"/>
                <a:sym typeface="Inter"/>
              </a:rPr>
            </a:br>
            <a:r>
              <a:rPr b="0" i="0" lang="en" sz="2000" u="none" cap="none" strike="noStrike">
                <a:solidFill>
                  <a:srgbClr val="1A1A1A"/>
                </a:solidFill>
                <a:latin typeface="Inter"/>
                <a:ea typeface="Inter"/>
                <a:cs typeface="Inter"/>
                <a:sym typeface="Inter"/>
              </a:rPr>
              <a:t>Never received a rejection.</a:t>
            </a:r>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1A1A"/>
                </a:solidFill>
                <a:latin typeface="Inter"/>
                <a:ea typeface="Inter"/>
                <a:cs typeface="Inter"/>
                <a:sym typeface="Inter"/>
              </a:rPr>
              <a:t>They completed the funnel but produced no outcome.</a:t>
            </a:r>
            <a:br>
              <a:rPr b="0" i="0" lang="en" sz="2000" u="none" cap="none" strike="noStrike">
                <a:solidFill>
                  <a:srgbClr val="1A1A1A"/>
                </a:solidFill>
                <a:latin typeface="Inter"/>
                <a:ea typeface="Inter"/>
                <a:cs typeface="Inter"/>
                <a:sym typeface="Inter"/>
              </a:rPr>
            </a:br>
            <a:br>
              <a:rPr b="0" i="0" lang="en" sz="2000" u="none" cap="none" strike="noStrike">
                <a:solidFill>
                  <a:srgbClr val="1A1A1A"/>
                </a:solidFill>
                <a:latin typeface="Inter"/>
                <a:ea typeface="Inter"/>
                <a:cs typeface="Inter"/>
                <a:sym typeface="Inter"/>
              </a:rPr>
            </a:br>
            <a:r>
              <a:rPr b="0" i="0" lang="en" sz="2000" u="none" cap="none" strike="noStrike">
                <a:solidFill>
                  <a:srgbClr val="1A1A1A"/>
                </a:solidFill>
                <a:latin typeface="Inter"/>
                <a:ea typeface="Inter"/>
                <a:cs typeface="Inter"/>
                <a:sym typeface="Inter"/>
              </a:rPr>
              <a:t>At $9,541.57 average premium, these 1,086 records represent $10,362,141 in unresolved revenue.</a:t>
            </a:r>
            <a:br>
              <a:rPr b="0" i="0" lang="en" sz="2000" u="none" cap="none" strike="noStrike">
                <a:solidFill>
                  <a:srgbClr val="1A1A1A"/>
                </a:solidFill>
                <a:latin typeface="Inter"/>
                <a:ea typeface="Inter"/>
                <a:cs typeface="Inter"/>
                <a:sym typeface="Inter"/>
              </a:rPr>
            </a:br>
            <a:br>
              <a:rPr b="0" i="0" lang="en" sz="2000" u="none" cap="none" strike="noStrike">
                <a:solidFill>
                  <a:srgbClr val="1A1A1A"/>
                </a:solidFill>
                <a:latin typeface="Inter"/>
                <a:ea typeface="Inter"/>
                <a:cs typeface="Inter"/>
                <a:sym typeface="Inter"/>
              </a:rPr>
            </a:br>
            <a:r>
              <a:rPr b="0" i="0" lang="en" sz="2000" u="none" cap="none" strike="noStrike">
                <a:solidFill>
                  <a:srgbClr val="1A1A1A"/>
                </a:solidFill>
                <a:latin typeface="Inter"/>
                <a:ea typeface="Inter"/>
                <a:cs typeface="Inter"/>
                <a:sym typeface="Inter"/>
              </a:rPr>
              <a:t>That is 44% of our realized TAM sitting in a data dead zone.</a:t>
            </a:r>
            <a:endParaRPr b="0" i="0" sz="2000" u="none" cap="none" strike="noStrike">
              <a:solidFill>
                <a:srgbClr val="1A1A1A"/>
              </a:solidFill>
              <a:latin typeface="Inter"/>
              <a:ea typeface="Inter"/>
              <a:cs typeface="Inter"/>
              <a:sym typeface="Inter"/>
            </a:endParaRPr>
          </a:p>
        </p:txBody>
      </p:sp>
      <p:pic>
        <p:nvPicPr>
          <p:cNvPr id="52" name="Google Shape;52;p2"/>
          <p:cNvPicPr preferRelativeResize="0"/>
          <p:nvPr/>
        </p:nvPicPr>
        <p:blipFill rotWithShape="1">
          <a:blip r:embed="rId4">
            <a:alphaModFix/>
          </a:blip>
          <a:srcRect b="0" l="0" r="0" t="0"/>
          <a:stretch/>
        </p:blipFill>
        <p:spPr>
          <a:xfrm>
            <a:off x="3871064" y="-390238"/>
            <a:ext cx="2505673" cy="2152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56" name="Shape 56"/>
        <p:cNvGrpSpPr/>
        <p:nvPr/>
      </p:nvGrpSpPr>
      <p:grpSpPr>
        <a:xfrm>
          <a:off x="0" y="0"/>
          <a:ext cx="0" cy="0"/>
          <a:chOff x="0" y="0"/>
          <a:chExt cx="0" cy="0"/>
        </a:xfrm>
      </p:grpSpPr>
      <p:pic>
        <p:nvPicPr>
          <p:cNvPr id="57" name="Google Shape;57;p3"/>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58" name="Google Shape;58;p3"/>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What Makes a Quote a Zombie?</a:t>
            </a:r>
            <a:endParaRPr b="0" i="0" sz="4000" u="none" cap="none" strike="noStrike">
              <a:solidFill>
                <a:srgbClr val="1A1A1A"/>
              </a:solidFill>
              <a:latin typeface="Inter ExtraBold"/>
              <a:ea typeface="Inter ExtraBold"/>
              <a:cs typeface="Inter ExtraBold"/>
              <a:sym typeface="Inter ExtraBold"/>
            </a:endParaRPr>
          </a:p>
        </p:txBody>
      </p:sp>
      <p:sp>
        <p:nvSpPr>
          <p:cNvPr id="59" name="Google Shape;59;p3"/>
          <p:cNvSpPr/>
          <p:nvPr/>
        </p:nvSpPr>
        <p:spPr>
          <a:xfrm>
            <a:off x="228600" y="1199466"/>
            <a:ext cx="8686800" cy="36894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355600" lvl="0" marL="457200" marR="0" rtl="0" algn="l">
              <a:lnSpc>
                <a:spcPct val="115000"/>
              </a:lnSpc>
              <a:spcBef>
                <a:spcPts val="0"/>
              </a:spcBef>
              <a:spcAft>
                <a:spcPts val="0"/>
              </a:spcAft>
              <a:buClr>
                <a:srgbClr val="000000"/>
              </a:buClr>
              <a:buSzPts val="2000"/>
              <a:buFont typeface="Inter"/>
              <a:buAutoNum type="arabicPeriod"/>
            </a:pPr>
            <a:r>
              <a:rPr b="0" i="0" lang="en" sz="1600" u="none" cap="none" strike="noStrike">
                <a:solidFill>
                  <a:schemeClr val="dk1"/>
                </a:solidFill>
                <a:latin typeface="Inter"/>
                <a:ea typeface="Inter"/>
                <a:cs typeface="Inter"/>
                <a:sym typeface="Inter"/>
              </a:rPr>
              <a:t>Condition 1 — Complete Quote: Passed all 9 stages.</a:t>
            </a:r>
            <a:endParaRPr/>
          </a:p>
          <a:p>
            <a:pPr indent="-228600" lvl="0" marL="457200" marR="0" rtl="0" algn="l">
              <a:lnSpc>
                <a:spcPct val="115000"/>
              </a:lnSpc>
              <a:spcBef>
                <a:spcPts val="0"/>
              </a:spcBef>
              <a:spcAft>
                <a:spcPts val="0"/>
              </a:spcAft>
              <a:buClr>
                <a:srgbClr val="000000"/>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Condition 2 — No Premium: Total Premium is $0 or blank.</a:t>
            </a:r>
            <a:endParaRPr/>
          </a:p>
          <a:p>
            <a:pPr indent="-228600" lvl="0" marL="457200" marR="0" rtl="0" algn="l">
              <a:lnSpc>
                <a:spcPct val="115000"/>
              </a:lnSpc>
              <a:spcBef>
                <a:spcPts val="0"/>
              </a:spcBef>
              <a:spcAft>
                <a:spcPts val="0"/>
              </a:spcAft>
              <a:buClr>
                <a:schemeClr val="dk1"/>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Condition 3 — No Rejection: Rejection log is empty. Underwriting never touched these records.</a:t>
            </a:r>
            <a:endParaRPr/>
          </a:p>
          <a:p>
            <a:pPr indent="-228600" lvl="0" marL="457200" marR="0" rtl="0" algn="l">
              <a:lnSpc>
                <a:spcPct val="115000"/>
              </a:lnSpc>
              <a:spcBef>
                <a:spcPts val="0"/>
              </a:spcBef>
              <a:spcAft>
                <a:spcPts val="0"/>
              </a:spcAft>
              <a:buClr>
                <a:schemeClr val="dk1"/>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All three true at once — 1,086 records. Those are our zombie quotes.</a:t>
            </a:r>
            <a:endParaRPr b="0" i="0" sz="1600"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63" name="Shape 63"/>
        <p:cNvGrpSpPr/>
        <p:nvPr/>
      </p:nvGrpSpPr>
      <p:grpSpPr>
        <a:xfrm>
          <a:off x="0" y="0"/>
          <a:ext cx="0" cy="0"/>
          <a:chOff x="0" y="0"/>
          <a:chExt cx="0" cy="0"/>
        </a:xfrm>
      </p:grpSpPr>
      <p:pic>
        <p:nvPicPr>
          <p:cNvPr id="64" name="Google Shape;64;p4"/>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65" name="Google Shape;65;p4"/>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Who Are the 1,086 Zombies?</a:t>
            </a:r>
            <a:endParaRPr b="0" i="0" sz="4000" u="none" cap="none" strike="noStrike">
              <a:solidFill>
                <a:srgbClr val="1A1A1A"/>
              </a:solidFill>
              <a:latin typeface="Inter ExtraBold"/>
              <a:ea typeface="Inter ExtraBold"/>
              <a:cs typeface="Inter ExtraBold"/>
              <a:sym typeface="Inter ExtraBold"/>
            </a:endParaRPr>
          </a:p>
        </p:txBody>
      </p:sp>
      <p:sp>
        <p:nvSpPr>
          <p:cNvPr id="66" name="Google Shape;66;p4"/>
          <p:cNvSpPr txBox="1"/>
          <p:nvPr>
            <p:ph idx="1" type="subTitle"/>
          </p:nvPr>
        </p:nvSpPr>
        <p:spPr>
          <a:xfrm>
            <a:off x="96875" y="1370343"/>
            <a:ext cx="2993700" cy="190818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Inter"/>
                <a:ea typeface="Inter"/>
                <a:cs typeface="Inter"/>
                <a:sym typeface="Inter"/>
              </a:rPr>
              <a:t>These records are not random. </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Inter"/>
                <a:ea typeface="Inter"/>
                <a:cs typeface="Inter"/>
                <a:sym typeface="Inter"/>
              </a:rPr>
              <a:t>They are missing data across multiple fields simultaneously, pointing to a structural pipeline failure.</a:t>
            </a:r>
            <a:endParaRPr b="0" i="0" sz="1600" u="none" cap="none" strike="noStrike">
              <a:solidFill>
                <a:schemeClr val="dk1"/>
              </a:solidFill>
              <a:latin typeface="Inter"/>
              <a:ea typeface="Inter"/>
              <a:cs typeface="Inter"/>
              <a:sym typeface="Inter"/>
            </a:endParaRPr>
          </a:p>
        </p:txBody>
      </p:sp>
      <p:pic>
        <p:nvPicPr>
          <p:cNvPr id="67" name="Google Shape;67;p4"/>
          <p:cNvPicPr preferRelativeResize="0"/>
          <p:nvPr/>
        </p:nvPicPr>
        <p:blipFill rotWithShape="1">
          <a:blip r:embed="rId4">
            <a:alphaModFix/>
          </a:blip>
          <a:srcRect b="0" l="0" r="0" t="0"/>
          <a:stretch/>
        </p:blipFill>
        <p:spPr>
          <a:xfrm>
            <a:off x="3200000" y="1300000"/>
            <a:ext cx="5700000" cy="3200000"/>
          </a:xfrm>
          <a:prstGeom prst="rect">
            <a:avLst/>
          </a:prstGeom>
          <a:noFill/>
          <a:ln>
            <a:noFill/>
          </a:ln>
        </p:spPr>
      </p:pic>
      <p:pic>
        <p:nvPicPr>
          <p:cNvPr id="68" name="Google Shape;68;p4"/>
          <p:cNvPicPr preferRelativeResize="0"/>
          <p:nvPr/>
        </p:nvPicPr>
        <p:blipFill rotWithShape="1">
          <a:blip r:embed="rId5">
            <a:alphaModFix/>
          </a:blip>
          <a:srcRect b="0" l="0" r="0" t="0"/>
          <a:stretch/>
        </p:blipFill>
        <p:spPr>
          <a:xfrm>
            <a:off x="526832" y="3856816"/>
            <a:ext cx="2133785" cy="12863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72" name="Shape 72"/>
        <p:cNvGrpSpPr/>
        <p:nvPr/>
      </p:nvGrpSpPr>
      <p:grpSpPr>
        <a:xfrm>
          <a:off x="0" y="0"/>
          <a:ext cx="0" cy="0"/>
          <a:chOff x="0" y="0"/>
          <a:chExt cx="0" cy="0"/>
        </a:xfrm>
      </p:grpSpPr>
      <p:pic>
        <p:nvPicPr>
          <p:cNvPr id="73" name="Google Shape;73;p5"/>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74" name="Google Shape;74;p5"/>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The Dollar Impact</a:t>
            </a:r>
            <a:endParaRPr b="0" i="0" sz="4000" u="none" cap="none" strike="noStrike">
              <a:solidFill>
                <a:srgbClr val="1A1A1A"/>
              </a:solidFill>
              <a:latin typeface="Inter ExtraBold"/>
              <a:ea typeface="Inter ExtraBold"/>
              <a:cs typeface="Inter ExtraBold"/>
              <a:sym typeface="Inter ExtraBold"/>
            </a:endParaRPr>
          </a:p>
        </p:txBody>
      </p:sp>
      <p:sp>
        <p:nvSpPr>
          <p:cNvPr id="75" name="Google Shape;75;p5"/>
          <p:cNvSpPr/>
          <p:nvPr/>
        </p:nvSpPr>
        <p:spPr>
          <a:xfrm>
            <a:off x="228600" y="1225375"/>
            <a:ext cx="8686800" cy="36894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355600" lvl="0" marL="457200" marR="0" rtl="0" algn="l">
              <a:lnSpc>
                <a:spcPct val="115000"/>
              </a:lnSpc>
              <a:spcBef>
                <a:spcPts val="0"/>
              </a:spcBef>
              <a:spcAft>
                <a:spcPts val="0"/>
              </a:spcAft>
              <a:buClr>
                <a:srgbClr val="000000"/>
              </a:buClr>
              <a:buSzPts val="2000"/>
              <a:buFont typeface="Inter"/>
              <a:buAutoNum type="arabicPeriod"/>
            </a:pPr>
            <a:r>
              <a:rPr b="0" i="0" lang="en" sz="1600" u="none" cap="none" strike="noStrike">
                <a:solidFill>
                  <a:schemeClr val="dk1"/>
                </a:solidFill>
                <a:latin typeface="Inter"/>
                <a:ea typeface="Inter"/>
                <a:cs typeface="Inter"/>
                <a:sym typeface="Inter"/>
              </a:rPr>
              <a:t>Zombie quotes: 1,086 records x $9,541.57 avg. premium = $10,362,141 in unresolved revenue</a:t>
            </a:r>
            <a:endParaRPr/>
          </a:p>
          <a:p>
            <a:pPr indent="-228600" lvl="0" marL="457200" marR="0" rtl="0" algn="l">
              <a:lnSpc>
                <a:spcPct val="115000"/>
              </a:lnSpc>
              <a:spcBef>
                <a:spcPts val="0"/>
              </a:spcBef>
              <a:spcAft>
                <a:spcPts val="0"/>
              </a:spcAft>
              <a:buClr>
                <a:srgbClr val="000000"/>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Realized TAM (Topic 1): $23,081,048 — earned premium from 2,419 accepted, priced quotes</a:t>
            </a:r>
            <a:endParaRPr/>
          </a:p>
          <a:p>
            <a:pPr indent="-228600" lvl="0" marL="457200" marR="0" rtl="0" algn="l">
              <a:lnSpc>
                <a:spcPct val="115000"/>
              </a:lnSpc>
              <a:spcBef>
                <a:spcPts val="0"/>
              </a:spcBef>
              <a:spcAft>
                <a:spcPts val="0"/>
              </a:spcAft>
              <a:buClr>
                <a:schemeClr val="dk1"/>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Zombie records alone represent 44% of our realized TAM sitting unaccounted for</a:t>
            </a:r>
            <a:endParaRPr/>
          </a:p>
          <a:p>
            <a:pPr indent="-228600" lvl="0" marL="457200" marR="0" rtl="0" algn="l">
              <a:lnSpc>
                <a:spcPct val="115000"/>
              </a:lnSpc>
              <a:spcBef>
                <a:spcPts val="0"/>
              </a:spcBef>
              <a:spcAft>
                <a:spcPts val="0"/>
              </a:spcAft>
              <a:buClr>
                <a:schemeClr val="dk1"/>
              </a:buClr>
              <a:buSzPts val="2000"/>
              <a:buFont typeface="Inter"/>
              <a:buNone/>
            </a:pPr>
            <a:r>
              <a:t/>
            </a:r>
            <a:endParaRPr b="0" i="0" sz="1600" u="none" cap="none" strike="noStrike">
              <a:solidFill>
                <a:schemeClr val="dk1"/>
              </a:solidFill>
              <a:latin typeface="Inter"/>
              <a:ea typeface="Inter"/>
              <a:cs typeface="Inter"/>
              <a:sym typeface="Inter"/>
            </a:endParaRPr>
          </a:p>
          <a:p>
            <a:pPr indent="-355600" lvl="0" marL="457200" marR="0" rtl="0" algn="l">
              <a:lnSpc>
                <a:spcPct val="115000"/>
              </a:lnSpc>
              <a:spcBef>
                <a:spcPts val="0"/>
              </a:spcBef>
              <a:spcAft>
                <a:spcPts val="0"/>
              </a:spcAft>
              <a:buClr>
                <a:schemeClr val="dk1"/>
              </a:buClr>
              <a:buSzPts val="2000"/>
              <a:buFont typeface="Inter"/>
              <a:buAutoNum type="arabicPeriod"/>
            </a:pPr>
            <a:r>
              <a:rPr b="0" i="0" lang="en" sz="1600" u="none" cap="none" strike="noStrike">
                <a:solidFill>
                  <a:schemeClr val="dk1"/>
                </a:solidFill>
                <a:latin typeface="Inter"/>
                <a:ea typeface="Inter"/>
                <a:cs typeface="Inter"/>
                <a:sym typeface="Inter"/>
              </a:rPr>
              <a:t>For every dollar that enters this pipeline, Supernova captures 36 cents.</a:t>
            </a:r>
            <a:endParaRPr b="0" i="0" sz="16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79" name="Shape 79"/>
        <p:cNvGrpSpPr/>
        <p:nvPr/>
      </p:nvGrpSpPr>
      <p:grpSpPr>
        <a:xfrm>
          <a:off x="0" y="0"/>
          <a:ext cx="0" cy="0"/>
          <a:chOff x="0" y="0"/>
          <a:chExt cx="0" cy="0"/>
        </a:xfrm>
      </p:grpSpPr>
      <p:sp>
        <p:nvSpPr>
          <p:cNvPr id="80" name="Google Shape;80;p6"/>
          <p:cNvSpPr txBox="1"/>
          <p:nvPr>
            <p:ph type="ctrTitle"/>
          </p:nvPr>
        </p:nvSpPr>
        <p:spPr>
          <a:xfrm>
            <a:off x="311700" y="1528940"/>
            <a:ext cx="8520600" cy="166196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Arial"/>
              <a:buNone/>
            </a:pPr>
            <a:r>
              <a:rPr b="0" i="0" lang="en" sz="3200" u="none" cap="none" strike="noStrike">
                <a:solidFill>
                  <a:srgbClr val="1A1A1A"/>
                </a:solidFill>
                <a:latin typeface="Inter ExtraBold"/>
                <a:ea typeface="Inter ExtraBold"/>
                <a:cs typeface="Inter ExtraBold"/>
                <a:sym typeface="Inter ExtraBold"/>
              </a:rPr>
              <a:t>Timothy will now show you what the corrected metrics look like.</a:t>
            </a:r>
            <a:endParaRPr b="0" i="0" sz="3200" u="none" cap="none" strike="noStrike">
              <a:solidFill>
                <a:srgbClr val="1A1A1A"/>
              </a:solidFill>
              <a:latin typeface="Inter ExtraBold"/>
              <a:ea typeface="Inter ExtraBold"/>
              <a:cs typeface="Inter ExtraBold"/>
              <a:sym typeface="Inter ExtraBold"/>
            </a:endParaRPr>
          </a:p>
        </p:txBody>
      </p:sp>
      <p:pic>
        <p:nvPicPr>
          <p:cNvPr id="81" name="Google Shape;81;p6"/>
          <p:cNvPicPr preferRelativeResize="0"/>
          <p:nvPr/>
        </p:nvPicPr>
        <p:blipFill rotWithShape="1">
          <a:blip r:embed="rId3">
            <a:alphaModFix/>
          </a:blip>
          <a:srcRect b="0" l="0" r="0" t="0"/>
          <a:stretch/>
        </p:blipFill>
        <p:spPr>
          <a:xfrm>
            <a:off x="8165970" y="3943917"/>
            <a:ext cx="645459" cy="645201"/>
          </a:xfrm>
          <a:prstGeom prst="rect">
            <a:avLst/>
          </a:prstGeom>
          <a:noFill/>
          <a:ln>
            <a:noFill/>
          </a:ln>
        </p:spPr>
      </p:pic>
      <p:pic>
        <p:nvPicPr>
          <p:cNvPr id="82" name="Google Shape;82;p6"/>
          <p:cNvPicPr preferRelativeResize="0"/>
          <p:nvPr/>
        </p:nvPicPr>
        <p:blipFill rotWithShape="1">
          <a:blip r:embed="rId4">
            <a:alphaModFix/>
          </a:blip>
          <a:srcRect b="0" l="0" r="0" t="0"/>
          <a:stretch/>
        </p:blipFill>
        <p:spPr>
          <a:xfrm>
            <a:off x="4138613" y="228600"/>
            <a:ext cx="866775" cy="194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